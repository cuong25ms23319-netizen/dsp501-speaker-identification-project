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70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Speaker Identification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DSP-Enhanced Pipeline vs.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Nguyen Huy Cuong  |  Hon Vi Dan  |  Le Nhut Thanh Quang  |  Nguyen Duc Minh Khoa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FPT University — DSP501  |  Supervisor: Dr. Dang Ngoc Minh Duc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1.  Introduction — Problem &amp; Motivation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2.  Dataset — 5 speakers, 125 samples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3.  DSP Methodology — FIR Filter &amp; Pre-emphasis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4.  Feature Engineering — Pipeline A vs Pipeline B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5.  AI Modeling — SVM with RBF Kernel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6.  Experimental Results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7.  Discussion — Why Pipeline B Wins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8.  Limitations &amp; Conclusion</a:t>
            </a:r>
          </a:p>
          <a:p>
            <a:pPr algn="l">
              <a:spcBef>
                <a:spcPts val="1400"/>
              </a:spcBef>
              <a:defRPr sz="2400" b="0">
                <a:solidFill>
                  <a:srgbClr val="333333"/>
                </a:solidFill>
                <a:latin typeface="Calibri"/>
              </a:defRPr>
            </a:pPr>
            <a:r>
              <a:t>9.  Live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Goal: Identify WHO is speaking from a short audio clip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Challenge: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- Speech is non-stationary — properties change over time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- Environmental noise corrupts the signal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- Different mics/sessions produce different characteristics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Research Question: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Does DSP preprocessing improve speaker identification accuracy?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Approach: Compare two pipelines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666666"/>
                </a:solidFill>
                <a:latin typeface="Calibri"/>
              </a:defRPr>
            </a:pPr>
            <a:r>
              <a:t>  Pipeline A:  Raw signal  →  basic time features (6-dim)  →  SVM</a:t>
            </a:r>
          </a:p>
          <a:p>
            <a:pPr algn="l">
              <a:spcBef>
                <a:spcPts val="600"/>
              </a:spcBef>
              <a:defRPr sz="2000" b="1">
                <a:solidFill>
                  <a:srgbClr val="F37021"/>
                </a:solidFill>
                <a:latin typeface="Calibri"/>
              </a:defRPr>
            </a:pPr>
            <a:r>
              <a:t>  Pipeline B:  FIR + Pre-emphasis  →  MFCC features (26-dim)  →  SVM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33333"/>
                </a:solidFill>
                <a:latin typeface="Calibri"/>
              </a:defRPr>
            </a:pPr>
            <a:r>
              <a:t>5 Speakers x 25 files = 125 samples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Speaker 07 — Dan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Speaker 08 — Cuong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Speaker 09 — Quang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Speaker 10 — Anne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Speaker 11 — Khoa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Duration: ~3 seconds each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Mono WAV, fs = 16,000 Hz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48,000 samples per clip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Preprocessing Pipeline: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1. Load audio as mono 16 kHz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2. Normalize amplitude to [-1, 1]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3. Trim silence (threshold: -20 dB)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4. Pad or crop to 48,000 samples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Signal Analysis — Waveform</a:t>
            </a:r>
          </a:p>
        </p:txBody>
      </p:sp>
      <p:pic>
        <p:nvPicPr>
          <p:cNvPr id="4" name="Picture 3" descr="wavefor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Raw signal (top) vs Filtered signal (bottom) — FIR bandpass 300-3400 Hz removes noise while preserving speech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FIR Bandpass Filter (300–3400 Hz)</a:t>
            </a:r>
          </a:p>
        </p:txBody>
      </p:sp>
      <p:pic>
        <p:nvPicPr>
          <p:cNvPr id="4" name="Picture 3" descr="fi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283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Left: Magnitude response — passband at 0 dB, stopband &lt; -40 dB</a:t>
            </a:r>
            <a:br/>
            <a:r>
              <a:t>Center: Linear phase in passband — no signal distortion</a:t>
            </a:r>
            <a:br/>
            <a:r>
              <a:t>Right: Symmetric impulse response (101 taps, Hamming window)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Spectrum Comparison (FFT)</a:t>
            </a:r>
          </a:p>
        </p:txBody>
      </p:sp>
      <p:pic>
        <p:nvPicPr>
          <p:cNvPr id="4" name="Picture 3" descr="spectru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Blue = Raw, Orange = Filtered — energy outside 300-3400 Hz is heavily attenuated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Spectrogram (STFT) — Before vs After FIR</a:t>
            </a:r>
          </a:p>
        </p:txBody>
      </p:sp>
      <p:pic>
        <p:nvPicPr>
          <p:cNvPr id="4" name="Picture 3" descr="stf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Formants (bright horizontal bands) preserved in 300-3400 Hz; noise outside the band removed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Power Spectral Density (PSD)</a:t>
            </a:r>
          </a:p>
        </p:txBody>
      </p:sp>
      <p:pic>
        <p:nvPicPr>
          <p:cNvPr id="4" name="Picture 3" descr="ps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41225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Welch's method — power drops sharply outside 300-3400 Hz after filtering (red shaded = removed)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Signal-to-Noise Ratio (SNR)</a:t>
            </a:r>
          </a:p>
        </p:txBody>
      </p:sp>
      <p:pic>
        <p:nvPicPr>
          <p:cNvPr id="4" name="Picture 3" descr="sn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430000" cy="6615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Top: raw signal | Middle: kept (signal) | Bottom: removed (noise) — FIR effectively separates speech from noise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Pre-emphasis: y'[n] = y[n] - 0.97 * y[n-1]</a:t>
            </a:r>
          </a:p>
        </p:txBody>
      </p:sp>
      <p:pic>
        <p:nvPicPr>
          <p:cNvPr id="4" name="Picture 3" descr="preemphasis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500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Left: After FIR only — high frequencies still weak</a:t>
            </a:r>
            <a:br/>
            <a:r>
              <a:t>Right: After FIR + Pre-emphasis — spectrum flattened, high frequencies boosted for better MFCC extraction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Spectrum Comparison Across Speakers</a:t>
            </a:r>
          </a:p>
        </p:txBody>
      </p:sp>
      <p:pic>
        <p:nvPicPr>
          <p:cNvPr id="4" name="Picture 3" descr="speakers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10515600" cy="59569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Each speaker has a unique spectral fingerprint — different formant positions → basis for MFCC features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37021"/>
                </a:solidFill>
                <a:latin typeface="Calibri"/>
              </a:defRPr>
            </a:pPr>
            <a:r>
              <a:t>Pipeline A — Baseline (6-dim)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1. RMS Energy (mean) — loudness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2. RMS Energy (std) — energy variation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3. ZCR (mean) — zero crossing rate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4. ZCR (std) — ZCR variation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5. Mean |amplitude|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6. Std amplitude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E74C3C"/>
                </a:solidFill>
                <a:latin typeface="Calibri"/>
              </a:defRPr>
            </a:pPr>
            <a:r>
              <a:t>Only time-domain — NO frequency info!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37021"/>
                </a:solidFill>
                <a:latin typeface="Calibri"/>
              </a:defRPr>
            </a:pPr>
            <a:r>
              <a:t>Pipeline B — MFCC (26-dim)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1. Frame signal (512 samples, hop=256)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2. Hamming window each frame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3. FFT → power spectrum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4. Mel filterbank (mimics human ear)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5. Log of filterbank energies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6. DCT → 13 MFCCs per frame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7AE60"/>
                </a:solidFill>
                <a:latin typeface="Calibri"/>
              </a:defRPr>
            </a:pPr>
            <a:r>
              <a:t>Final: mean + std of 13 MFCCs = 26-dim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Visualization</a:t>
            </a:r>
          </a:p>
        </p:txBody>
      </p:sp>
      <p:pic>
        <p:nvPicPr>
          <p:cNvPr id="4" name="Picture 3" descr="mfc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760720" cy="1656100"/>
          </a:xfrm>
          <a:prstGeom prst="rect">
            <a:avLst/>
          </a:prstGeom>
        </p:spPr>
      </p:pic>
      <p:pic>
        <p:nvPicPr>
          <p:cNvPr id="5" name="Picture 4" descr="featur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2031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Left: MFCC heatmap (13 coefficients over time) | Right: Feature scatter — speakers form distinct clusters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SVM with RBF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33333"/>
                </a:solidFill>
                <a:latin typeface="Calibri"/>
              </a:defRPr>
            </a:pPr>
            <a:r>
              <a:t>Why SVM?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- Works well with small datasets (125 samples)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- Effective in high-dimensional space (26-dim)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- Clear decision boundaries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F37021"/>
                </a:solidFill>
                <a:latin typeface="Calibri"/>
              </a:defRPr>
            </a:pPr>
            <a:r>
              <a:t>K(xi, xj) = exp(-gamma * ||xi - xj||^2)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33333"/>
                </a:solidFill>
                <a:latin typeface="Calibri"/>
              </a:defRPr>
            </a:pPr>
            <a:r>
              <a:t>Training Setup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Pipeline: StandardScaler → SVM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333333"/>
                </a:solidFill>
                <a:latin typeface="Calibri"/>
              </a:defRPr>
            </a:pPr>
            <a:r>
              <a:t>Hyperparameter Search: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C:  0.1, 1, 10, 100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gamma:  scale, auto, 0.001, 0.01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GridSearchCV (3-fold inner)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5-fold Stratified CV (seed=42)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Cross-Validation Results</a:t>
            </a:r>
          </a:p>
        </p:txBody>
      </p:sp>
      <p:pic>
        <p:nvPicPr>
          <p:cNvPr id="4" name="Picture 3" descr="cv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515600" cy="3722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37021"/>
                </a:solidFill>
                <a:latin typeface="Calibri"/>
              </a:defRPr>
            </a:pPr>
            <a:r>
              <a:t>Pipeline A: 56.3% ± 2.8%  |  Pipeline B: 97.0% ± 3.6%  |  Gap: +40.7 percentage points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Pipeline                Best C                  Best gamma              Mean Accuracy           95% CI                  F1-score            </a:t>
            </a:r>
          </a:p>
          <a:p>
            <a:pPr algn="l">
              <a:spcBef>
                <a:spcPts val="12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A — Baseline            1                       scale                   56.3% ± 2.8%            [52.4%, 60.1%]          0.690               </a:t>
            </a:r>
          </a:p>
          <a:p>
            <a:pPr algn="l">
              <a:spcBef>
                <a:spcPts val="1200"/>
              </a:spcBef>
              <a:defRPr sz="1800" b="1">
                <a:solidFill>
                  <a:srgbClr val="F37021"/>
                </a:solidFill>
                <a:latin typeface="Calibri"/>
              </a:defRPr>
            </a:pPr>
            <a:r>
              <a:t>B — DSP-enhanced        1                       scale                   97.0% ± 3.6%            [92.0%, 102.1%]         1.000               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2400"/>
              </a:spcBef>
              <a:defRPr sz="2400" b="1">
                <a:solidFill>
                  <a:srgbClr val="333333"/>
                </a:solidFill>
                <a:latin typeface="Calibri"/>
              </a:defRPr>
            </a:pPr>
            <a:r>
              <a:t>Paired t-test:  t = -34.79,  p = 0.000004</a:t>
            </a:r>
          </a:p>
          <a:p>
            <a:pPr algn="l">
              <a:spcBef>
                <a:spcPts val="600"/>
              </a:spcBef>
              <a:defRPr sz="2200" b="1">
                <a:solidFill>
                  <a:srgbClr val="F37021"/>
                </a:solidFill>
                <a:latin typeface="Calibri"/>
              </a:defRPr>
            </a:pPr>
            <a:r>
              <a:t>p &lt;&lt; 0.05  →  HIGHLY STATISTICALLY SIGNIFICANT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pic>
        <p:nvPicPr>
          <p:cNvPr id="4" name="Picture 3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144000" cy="39394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Pipeline A: many misclassifications | Pipeline B: near-perfect diagonal — correct predictions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ROC Curves (One-vs-Rest)</a:t>
            </a:r>
          </a:p>
        </p:txBody>
      </p:sp>
      <p:pic>
        <p:nvPicPr>
          <p:cNvPr id="4" name="Picture 3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144000" cy="3496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Pipeline B: AUC close to 1.0 for all speakers — excellent discrimination ability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pic>
        <p:nvPicPr>
          <p:cNvPr id="4" name="Picture 3" descr="comparis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315200" cy="4020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Pipeline B outperforms A on all metrics: Accuracy, Precision, Recall, F1-score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Pipeline B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37021"/>
                </a:solidFill>
                <a:latin typeface="Calibri"/>
              </a:defRPr>
            </a:pPr>
            <a:r>
              <a:t>1. Feature Richness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26-dim MFCCs capture vocal tract shape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666666"/>
                </a:solidFill>
                <a:latin typeface="Calibri"/>
              </a:defRPr>
            </a:pPr>
            <a:r>
              <a:t>   vs. 6-dim time features — only amplitude info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600" b="1">
                <a:solidFill>
                  <a:srgbClr val="F37021"/>
                </a:solidFill>
                <a:latin typeface="Calibri"/>
              </a:defRPr>
            </a:pPr>
            <a:r>
              <a:t>2. Noise Suppression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FIR bandpass + pre-emphasis isolate speech frequencies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666666"/>
                </a:solidFill>
                <a:latin typeface="Calibri"/>
              </a:defRPr>
            </a:pPr>
            <a:r>
              <a:t>   → improved SNR before feature extraction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600" b="1">
                <a:solidFill>
                  <a:srgbClr val="F37021"/>
                </a:solidFill>
                <a:latin typeface="Calibri"/>
              </a:defRPr>
            </a:pPr>
            <a:r>
              <a:t>3. Massive Accuracy Gap</a:t>
            </a:r>
          </a:p>
          <a:p>
            <a:pPr algn="l">
              <a:spcBef>
                <a:spcPts val="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 +40.7 percentage points (56.3% → 97.0%)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666666"/>
                </a:solidFill>
                <a:latin typeface="Calibri"/>
              </a:defRPr>
            </a:pPr>
            <a:r>
              <a:t>   Computational cost: &lt;1 ms per 3-second clip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Small dataset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 5 speakers, 125 samples — may not generalize to larger populations</a:t>
            </a: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Clean recordings only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 Trained in quiet; noisy environments (classroom) degrade mic predictions</a:t>
            </a: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Closed-set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 Cannot reject unknown speakers — assumes test speaker is known</a:t>
            </a: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Single classifier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 Only SVM tested — RF, neural networks may respond differently</a:t>
            </a:r>
          </a:p>
          <a:p>
            <a:pPr algn="l">
              <a:spcBef>
                <a:spcPts val="1600"/>
              </a:spcBef>
              <a:defRPr sz="2200" b="1">
                <a:solidFill>
                  <a:srgbClr val="333333"/>
                </a:solidFill>
                <a:latin typeface="Calibri"/>
              </a:defRPr>
            </a:pPr>
            <a:r>
              <a:t>  Fixed filter design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 300–3400 Hz passband not optimized per dataset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Key Findings: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DSP preprocessing is essential — 40.7 pp accuracy gain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Confirmed by paired t-test (p = 0.000004)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0">
                <a:solidFill>
                  <a:srgbClr val="333333"/>
                </a:solidFill>
                <a:latin typeface="Calibri"/>
              </a:defRPr>
            </a:pPr>
            <a:r>
              <a:t>2.  MFCC features capture speaker-specific vocal tract characteristics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   Far better than basic time-domain descriptors (RMS, ZCR)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0">
                <a:solidFill>
                  <a:srgbClr val="333333"/>
                </a:solidFill>
                <a:latin typeface="Calibri"/>
              </a:defRPr>
            </a:pPr>
            <a:r>
              <a:t>3.  Handcrafted DSP + SVM achieves 97% on small dataset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37021"/>
                </a:solidFill>
                <a:latin typeface="Calibri"/>
              </a:defRPr>
            </a:pPr>
            <a:r>
              <a:t>     No deep learning required!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Calibri"/>
              </a:defRPr>
            </a:pPr>
            <a:r>
              <a:t>Future Work: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- More speakers, noisy conditions, noise reduction for real-time mic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666666"/>
                </a:solidFill>
                <a:latin typeface="Calibri"/>
              </a:defRPr>
            </a:pPr>
            <a:r>
              <a:t>  - Integrate DSP front-end with neural network architectures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70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Streamlit App — Speaker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Upload WAV file or Record from mic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70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